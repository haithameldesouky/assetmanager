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3" r:id="rId14"/>
    <p:sldId id="265" r:id="rId16"/>
    <p:sldId id="266" r:id="rId17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731520"/>
            <a:ext cx="3840480" cy="3657600"/>
          </a:xfrm>
          <a:prstGeom prst="roundRect">
            <a:avLst/>
          </a:prstGeom>
          <a:solidFill>
            <a:srgbClr val="18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0" y="1280160"/>
            <a:ext cx="2743200" cy="2560320"/>
          </a:xfrm>
          <a:prstGeom prst="roundRect">
            <a:avLst/>
          </a:prstGeom>
          <a:solidFill>
            <a:srgbClr val="0F2A4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10058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AssetManager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566928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0" i="0">
                <a:solidFill>
                  <a:srgbClr val="A8C8E8"/>
                </a:solidFill>
                <a:latin typeface="Calibri"/>
              </a:rPr>
              <a:t>IT Department —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66928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500" b="0" i="1">
                <a:solidFill>
                  <a:srgbClr val="7BA8C8"/>
                </a:solidFill>
                <a:latin typeface="Calibri"/>
              </a:rPr>
              <a:t>Built to track every asset, every move.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47872"/>
            <a:ext cx="201168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7BA8C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Before AssetManager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393192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Calibri"/>
              </a:rPr>
              <a:t>The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3931920" cy="5943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444752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99616"/>
            <a:ext cx="4114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latin typeface="Segoe UI Emoj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499616"/>
            <a:ext cx="32004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central record of who has what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931920" cy="5943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2194560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4114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latin typeface="Segoe UI Emoj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249424"/>
            <a:ext cx="32004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Assets lost between check-in and check-out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52927"/>
            <a:ext cx="3931920" cy="5943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44368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99232"/>
            <a:ext cx="4114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latin typeface="Segoe UI Emoji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99232"/>
            <a:ext cx="32004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confirmation from engineers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02736"/>
            <a:ext cx="3931920" cy="5943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" y="3694176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41148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latin typeface="Segoe UI Emoj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49039"/>
            <a:ext cx="32004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reports or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960120"/>
            <a:ext cx="3886200" cy="114300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033272"/>
            <a:ext cx="3886200" cy="5669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618488"/>
            <a:ext cx="38862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Centralized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258568"/>
            <a:ext cx="3886200" cy="114300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331720"/>
            <a:ext cx="3886200" cy="5669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16935"/>
            <a:ext cx="38862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Tracking Method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557015"/>
            <a:ext cx="3886200" cy="114300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630168"/>
            <a:ext cx="3886200" cy="5669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No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215383"/>
            <a:ext cx="388620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Asset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Three Apps. One System.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2633472" cy="3822191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3624" y="131673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63624" y="131673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38528"/>
            <a:ext cx="2304288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Calibri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32304"/>
            <a:ext cx="2304288" cy="10515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Flask + SQLite, Windows Service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05840"/>
            <a:ext cx="2633472" cy="3822191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98264" y="131673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1673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938528"/>
            <a:ext cx="2304288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Calibri"/>
              </a:rPr>
              <a:t>Storekeeper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32304"/>
            <a:ext cx="2304288" cy="10515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Log assets in &amp; out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05840"/>
            <a:ext cx="2633472" cy="3822191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2903" y="131673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131673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938528"/>
            <a:ext cx="2304288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Calibri"/>
              </a:rPr>
              <a:t>Notifier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32304"/>
            <a:ext cx="2304288" cy="10515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Confirm / reject via popup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pic>
        <p:nvPicPr>
          <p:cNvPr id="19" name="Picture 18" descr="01_serve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857500"/>
            <a:ext cx="1463040" cy="1783080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  <p:pic>
        <p:nvPicPr>
          <p:cNvPr id="20" name="Picture 19" descr="04_storekeeper_form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436" y="2944368"/>
            <a:ext cx="2331720" cy="1609344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  <p:pic>
        <p:nvPicPr>
          <p:cNvPr id="21" name="Picture 20" descr="08_notifier_pop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3172968"/>
            <a:ext cx="2331720" cy="1152144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The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1874519" cy="26517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4148" y="159105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4148" y="159105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58568"/>
            <a:ext cx="1691639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Storekeeper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61488"/>
            <a:ext cx="1691639" cy="1097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Scans asset,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selects engineer,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submits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5" y="2692908"/>
            <a:ext cx="16459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2560320"/>
            <a:ext cx="182880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389888"/>
            <a:ext cx="1874519" cy="26517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4700" y="159105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4700" y="159105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258568"/>
            <a:ext cx="1691639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Server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761488"/>
            <a:ext cx="1691639" cy="1097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Transaction saved,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duplicate check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4568" y="2692908"/>
            <a:ext cx="16459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182880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4024" y="1389888"/>
            <a:ext cx="1874519" cy="26517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45251" y="159105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5251" y="159105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258568"/>
            <a:ext cx="1691639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Engineer Notified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2761488"/>
            <a:ext cx="1691639" cy="1097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Popup appears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on engineer's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screen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692908"/>
            <a:ext cx="16459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2560320"/>
            <a:ext cx="182880" cy="31089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4576" y="1389888"/>
            <a:ext cx="1874519" cy="265176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5804" y="1591056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5804" y="1591056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258568"/>
            <a:ext cx="1691639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Confirmed/Rejected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2761488"/>
            <a:ext cx="1691639" cy="1097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Status updated</a:t>
            </a:r>
          </a:p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in real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Type In. Auto-Fill Out.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931920" cy="352044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566160" cy="9144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5000" b="1" i="0">
                <a:solidFill>
                  <a:srgbClr val="0078D4"/>
                </a:solidFill>
                <a:latin typeface="Calibri"/>
              </a:rPr>
              <a:t>Just 1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356616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50" b="0" i="0">
                <a:solidFill>
                  <a:srgbClr val="1A1A2E"/>
                </a:solidFill>
                <a:latin typeface="Calibri"/>
              </a:rPr>
              <a:t>Enter the Asset No. or Serial 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56616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50" b="1" i="0">
                <a:solidFill>
                  <a:srgbClr val="1A1A2E"/>
                </a:solidFill>
                <a:latin typeface="Calibri"/>
              </a:rPr>
              <a:t>Type &amp; Model auto-fill — then lock.</a:t>
            </a:r>
          </a:p>
        </p:txBody>
      </p:sp>
      <p:pic>
        <p:nvPicPr>
          <p:cNvPr id="19" name="Picture 18" descr="04_storekeeper_form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88720"/>
            <a:ext cx="4206240" cy="2898648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No More Double-Dipping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977640" cy="3383280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940" y="1188720"/>
            <a:ext cx="36576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900" b="1" i="0">
                <a:solidFill>
                  <a:srgbClr val="1A1A2E"/>
                </a:solidFill>
                <a:latin typeface="Calibri"/>
              </a:rPr>
              <a:t>Asset already pending?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4460" y="1645920"/>
            <a:ext cx="2194560" cy="7772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4460" y="1645920"/>
            <a:ext cx="2194560" cy="7772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409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" y="2560320"/>
            <a:ext cx="3657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50" b="0" i="0">
                <a:solidFill>
                  <a:srgbClr val="1A1A2E"/>
                </a:solidFill>
                <a:latin typeface="Calibri"/>
              </a:rPr>
              <a:t>The server blocks re-submission until the first</a:t>
            </a:r>
          </a:p>
          <a:p>
            <a:pPr algn="ctr"/>
            <a:r>
              <a:rPr sz="1350" b="0" i="0">
                <a:solidFill>
                  <a:srgbClr val="1A1A2E"/>
                </a:solidFill>
                <a:latin typeface="Calibri"/>
              </a:rPr>
              <a:t>transaction is confirmed or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3108960" cy="4572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Segoe UI Emoji"/>
              </a:rPr>
              <a:t>✅  After Confirm → can re-submit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3108960" cy="4572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292608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Segoe UI Emoji"/>
              </a:rPr>
              <a:t>✅  After Reject → can re-submit</a:t>
            </a:r>
          </a:p>
        </p:txBody>
      </p:sp>
      <p:pic>
        <p:nvPicPr>
          <p:cNvPr id="13" name="Picture 12" descr="03_storekeepe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4206240" cy="2898648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Export That Actually Looks Good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4041648" cy="171907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280160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71016"/>
            <a:ext cx="438912" cy="4206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0" i="0">
                <a:latin typeface="Segoe UI Emoj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133856"/>
            <a:ext cx="329184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450" b="1" i="0">
                <a:solidFill>
                  <a:srgbClr val="1A1A2E"/>
                </a:solidFill>
                <a:latin typeface="Calibri"/>
              </a:rPr>
              <a:t>Transaction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72768"/>
            <a:ext cx="3291840" cy="9144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Full history, color-coded by status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(green / orange / 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44368"/>
            <a:ext cx="4041648" cy="171907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3200400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191256"/>
            <a:ext cx="438912" cy="4206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0" i="0">
                <a:latin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54096"/>
            <a:ext cx="329184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450" b="1" i="0">
                <a:solidFill>
                  <a:srgbClr val="1A1A2E"/>
                </a:solidFill>
                <a:latin typeface="Calibri"/>
              </a:rPr>
              <a:t>Summary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93008"/>
            <a:ext cx="3291840" cy="9144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Status breakdown, per-engineer counts,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3 auto-generated charts</a:t>
            </a:r>
          </a:p>
        </p:txBody>
      </p:sp>
      <p:pic>
        <p:nvPicPr>
          <p:cNvPr id="21" name="Picture 20" descr="06_storekeepe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62456"/>
            <a:ext cx="4297680" cy="2962656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5948203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924812" cy="345643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78191" y="1316736"/>
            <a:ext cx="374269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8191" y="1316736"/>
            <a:ext cx="374269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220" y="1938528"/>
            <a:ext cx="168421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Auto-Fill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220" y="2432304"/>
            <a:ext cx="1684210" cy="1737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Type asset or serial,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type &amp; model fill in.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8900" y="1051560"/>
            <a:ext cx="1924812" cy="345643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04171" y="1316736"/>
            <a:ext cx="374269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4171" y="1316736"/>
            <a:ext cx="374269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9200" y="1938528"/>
            <a:ext cx="168421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Duplicate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9200" y="2432304"/>
            <a:ext cx="1684210" cy="1737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Server blocks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re-submission (409).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051560"/>
            <a:ext cx="1924812" cy="345643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0150" y="1316736"/>
            <a:ext cx="374269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0151" y="1316736"/>
            <a:ext cx="374269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5180" y="1938528"/>
            <a:ext cx="168421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Excel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5180" y="2432304"/>
            <a:ext cx="1684210" cy="1737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Color-coded history,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summary + charts.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0860" y="1051560"/>
            <a:ext cx="1924812" cy="345643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56130" y="1316736"/>
            <a:ext cx="374269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6131" y="1316736"/>
            <a:ext cx="374269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600" b="0" i="0">
                <a:latin typeface="Segoe UI Emoji"/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1160" y="1938528"/>
            <a:ext cx="168421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Admin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1160" y="2432304"/>
            <a:ext cx="1684210" cy="1737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Password, port, SSL,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clear records.</a:t>
            </a:r>
          </a:p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Demo — Logging an Asset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936" y="109728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09728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20700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Open app — set Out / In Store</a:t>
            </a:r>
          </a:p>
        </p:txBody>
      </p:sp>
      <p:sp>
        <p:nvSpPr>
          <p:cNvPr id="7" name="Oval 6"/>
          <p:cNvSpPr/>
          <p:nvPr/>
        </p:nvSpPr>
        <p:spPr>
          <a:xfrm>
            <a:off x="630936" y="192024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3032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Enter Asset No. or Serial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274320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74320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5340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Type &amp; Model auto-fill; pick engineer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" y="356616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356616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67624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Submit — engineer notified instantly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3752" y="1517904"/>
            <a:ext cx="4151376" cy="293522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024128"/>
            <a:ext cx="3566160" cy="37673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50" b="0" i="1">
                <a:solidFill>
                  <a:srgbClr val="9CA3AF"/>
                </a:solidFill>
                <a:latin typeface="Calibri"/>
              </a:rPr>
              <a:t/>
            </a:r>
          </a:p>
        </p:txBody>
      </p:sp>
      <p:pic>
        <p:nvPicPr>
          <p:cNvPr id="27" name="Picture 26" descr="04_storekeeper_form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27632"/>
            <a:ext cx="3931920" cy="2715948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Demo — Engineer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936" y="137160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37160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8132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Runs quietly in the system tray</a:t>
            </a:r>
          </a:p>
        </p:txBody>
      </p:sp>
      <p:sp>
        <p:nvSpPr>
          <p:cNvPr id="7" name="Oval 6"/>
          <p:cNvSpPr/>
          <p:nvPr/>
        </p:nvSpPr>
        <p:spPr>
          <a:xfrm>
            <a:off x="630936" y="233172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33172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44144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Popup appears automatically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3291840"/>
            <a:ext cx="512064" cy="51206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3291840"/>
            <a:ext cx="512064" cy="51206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401568"/>
            <a:ext cx="356616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Confirm or Reject — updates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024128"/>
            <a:ext cx="3566160" cy="376732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024128"/>
            <a:ext cx="3566160" cy="376732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350" b="0" i="1">
                <a:solidFill>
                  <a:srgbClr val="9CA3AF"/>
                </a:solidFill>
                <a:latin typeface="Calibri"/>
              </a:rPr>
              <a:t/>
            </a:r>
          </a:p>
        </p:txBody>
      </p:sp>
      <p:pic>
        <p:nvPicPr>
          <p:cNvPr id="21" name="Picture 20" descr="08_notifier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02536"/>
            <a:ext cx="3931920" cy="1938528"/>
          </a:xfrm>
          <a:prstGeom prst="rect">
            <a:avLst/>
          </a:prstGeom>
          <a:ln w="9525">
            <a:solidFill>
              <a:srgbClr val="C8CDD2"/>
            </a:solidFill>
          </a:ln>
          <a:effectLst>
            <a:outerShdw blurRad="38100" dist="19050" dir="5400000" rotWithShape="0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Keeping the Lookup Up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1381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4041648" cy="171907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298448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80160"/>
            <a:ext cx="438912" cy="4206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0" i="0">
                <a:latin typeface="Segoe UI Emoj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133856"/>
            <a:ext cx="329184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450" b="1" i="0">
                <a:solidFill>
                  <a:srgbClr val="1A1A2E"/>
                </a:solidFill>
                <a:latin typeface="Calibri"/>
              </a:rPr>
              <a:t>Edit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72768"/>
            <a:ext cx="3291840" cy="9601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Open asset_lookup.xlsx on asset-server.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Add/edit rows. 4 columns: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Asset Number, Serial Number, Type,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62656"/>
            <a:ext cx="4041648" cy="1719072"/>
          </a:xfrm>
          <a:prstGeom prst="roundRect">
            <a:avLst/>
          </a:prstGeom>
          <a:solidFill>
            <a:srgbClr val="E6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3236976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18688"/>
            <a:ext cx="438912" cy="42062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0" i="0">
                <a:latin typeface="Segoe UI Emoj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72384"/>
            <a:ext cx="3291840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450" b="1" i="0">
                <a:solidFill>
                  <a:srgbClr val="1A1A2E"/>
                </a:solidFill>
                <a:latin typeface="Calibri"/>
              </a:rPr>
              <a:t>Instant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11296"/>
            <a:ext cx="3291840" cy="9601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No restart needed.</a:t>
            </a:r>
          </a:p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Changes are live immediately.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8032" y="1024128"/>
            <a:ext cx="804672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024128"/>
            <a:ext cx="76809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Asset 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32704" y="1024128"/>
            <a:ext cx="841248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024128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Serial No.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1024128"/>
            <a:ext cx="841248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024128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024128"/>
            <a:ext cx="1389888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1024128"/>
            <a:ext cx="135331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1408176"/>
            <a:ext cx="804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408176"/>
            <a:ext cx="76809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1042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2704" y="1408176"/>
            <a:ext cx="84124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1408176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SN-4829A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1408176"/>
            <a:ext cx="84124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408176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Laptop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408176"/>
            <a:ext cx="13898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1408176"/>
            <a:ext cx="135331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Dell 5530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28032" y="1792224"/>
            <a:ext cx="804672" cy="384048"/>
          </a:xfrm>
          <a:prstGeom prst="rect">
            <a:avLst/>
          </a:prstGeom>
          <a:solidFill>
            <a:srgbClr val="E6F3FC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1792224"/>
            <a:ext cx="76809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2013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2704" y="1792224"/>
            <a:ext cx="841248" cy="384048"/>
          </a:xfrm>
          <a:prstGeom prst="rect">
            <a:avLst/>
          </a:prstGeom>
          <a:solidFill>
            <a:srgbClr val="E6F3FC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1792224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SN-7731B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1792224"/>
            <a:ext cx="841248" cy="384048"/>
          </a:xfrm>
          <a:prstGeom prst="rect">
            <a:avLst/>
          </a:prstGeom>
          <a:solidFill>
            <a:srgbClr val="E6F3FC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1792224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Monitor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1792224"/>
            <a:ext cx="1389888" cy="384048"/>
          </a:xfrm>
          <a:prstGeom prst="rect">
            <a:avLst/>
          </a:prstGeom>
          <a:solidFill>
            <a:srgbClr val="E6F3FC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51775" y="1792224"/>
            <a:ext cx="135331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LG 24MK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28032" y="2176272"/>
            <a:ext cx="804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4608" y="2176272"/>
            <a:ext cx="768096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3305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32704" y="2176272"/>
            <a:ext cx="84124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2176272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SN-1102C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73952" y="2176272"/>
            <a:ext cx="84124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2176272"/>
            <a:ext cx="80467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Cisco Phone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176272"/>
            <a:ext cx="13898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51775" y="2176272"/>
            <a:ext cx="1353312" cy="3840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CP-8851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7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7315200" cy="10058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44368"/>
            <a:ext cx="731520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800" b="0" i="0">
                <a:solidFill>
                  <a:srgbClr val="A8C8E8"/>
                </a:solidFill>
                <a:latin typeface="Calibri"/>
              </a:rPr>
              <a:t>AssetManager — IT Department,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Built with Python · Flask · SQLite · Tkinter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